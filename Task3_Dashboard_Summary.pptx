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2A93B"/>
            </a:solidFill>
            <a:ln w="3175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2023-01</c:v>
                  </c:pt>
                  <c:pt idx="1">
                    <c:v>2023-02</c:v>
                  </c:pt>
                  <c:pt idx="2">
                    <c:v>2023-03</c:v>
                  </c:pt>
                  <c:pt idx="3">
                    <c:v>2023-04</c:v>
                  </c:pt>
                  <c:pt idx="4">
                    <c:v>2023-05</c:v>
                  </c:pt>
                  <c:pt idx="5">
                    <c:v>2023-06</c:v>
                  </c:pt>
                  <c:pt idx="6">
                    <c:v>2023-07</c:v>
                  </c:pt>
                  <c:pt idx="7">
                    <c:v>2023-08</c:v>
                  </c:pt>
                  <c:pt idx="8">
                    <c:v>2023-09</c:v>
                  </c:pt>
                  <c:pt idx="9">
                    <c:v>2023-10</c:v>
                  </c:pt>
                  <c:pt idx="10">
                    <c:v>2023-11</c:v>
                  </c:pt>
                  <c:pt idx="11">
                    <c:v>2023-12</c:v>
                  </c:pt>
                  <c:pt idx="12">
                    <c:v>2024-01</c:v>
                  </c:pt>
                  <c:pt idx="13">
                    <c:v>2024-02</c:v>
                  </c:pt>
                  <c:pt idx="14">
                    <c:v>2024-03</c:v>
                  </c:pt>
                  <c:pt idx="15">
                    <c:v>2024-04</c:v>
                  </c:pt>
                  <c:pt idx="16">
                    <c:v>2024-05</c:v>
                  </c:pt>
                  <c:pt idx="17">
                    <c:v>2024-06</c:v>
                  </c:pt>
                  <c:pt idx="18">
                    <c:v>2024-07</c:v>
                  </c:pt>
                  <c:pt idx="19">
                    <c:v>2024-08</c:v>
                  </c:pt>
                  <c:pt idx="20">
                    <c:v>2024-09</c:v>
                  </c:pt>
                  <c:pt idx="21">
                    <c:v>2024-10</c:v>
                  </c:pt>
                  <c:pt idx="22">
                    <c:v>2024-11</c:v>
                  </c:pt>
                  <c:pt idx="23">
                    <c:v>2024-12</c:v>
                  </c:pt>
                  <c:pt idx="24">
                    <c:v>2025-01</c:v>
                  </c:pt>
                  <c:pt idx="25">
                    <c:v>2025-02</c:v>
                  </c:pt>
                  <c:pt idx="26">
                    <c:v>2025-03</c:v>
                  </c:pt>
                  <c:pt idx="27">
                    <c:v>2025-04</c:v>
                  </c:pt>
                  <c:pt idx="28">
                    <c:v>2025-05</c:v>
                  </c:pt>
                  <c:pt idx="29">
                    <c:v>2025-06</c:v>
                  </c:pt>
                  <c:pt idx="30">
                    <c:v>2025-07</c:v>
                  </c:pt>
                  <c:pt idx="31">
                    <c:v>2025-08</c:v>
                  </c:pt>
                  <c:pt idx="32">
                    <c:v>2025-09</c:v>
                  </c:pt>
                  <c:pt idx="33">
                    <c:v>2025-10</c:v>
                  </c:pt>
                  <c:pt idx="34">
                    <c:v>2025-11</c:v>
                  </c:pt>
                  <c:pt idx="35">
                    <c:v>2025-12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154497</c:v>
                </c:pt>
                <c:pt idx="1">
                  <c:v>167928</c:v>
                </c:pt>
                <c:pt idx="2">
                  <c:v>146930</c:v>
                </c:pt>
                <c:pt idx="3">
                  <c:v>139581</c:v>
                </c:pt>
                <c:pt idx="4">
                  <c:v>133894</c:v>
                </c:pt>
                <c:pt idx="5">
                  <c:v>102662</c:v>
                </c:pt>
                <c:pt idx="6">
                  <c:v>109387</c:v>
                </c:pt>
                <c:pt idx="7">
                  <c:v>104914</c:v>
                </c:pt>
                <c:pt idx="8">
                  <c:v>111632</c:v>
                </c:pt>
                <c:pt idx="9">
                  <c:v>149093</c:v>
                </c:pt>
                <c:pt idx="10">
                  <c:v>148415</c:v>
                </c:pt>
                <c:pt idx="11">
                  <c:v>181547</c:v>
                </c:pt>
                <c:pt idx="12">
                  <c:v>190994</c:v>
                </c:pt>
                <c:pt idx="13">
                  <c:v>151522</c:v>
                </c:pt>
                <c:pt idx="14">
                  <c:v>167204</c:v>
                </c:pt>
                <c:pt idx="15">
                  <c:v>127572</c:v>
                </c:pt>
                <c:pt idx="16">
                  <c:v>139197</c:v>
                </c:pt>
                <c:pt idx="17">
                  <c:v>105583</c:v>
                </c:pt>
                <c:pt idx="18">
                  <c:v>118945</c:v>
                </c:pt>
                <c:pt idx="19">
                  <c:v>125833</c:v>
                </c:pt>
                <c:pt idx="20">
                  <c:v>128764</c:v>
                </c:pt>
                <c:pt idx="21">
                  <c:v>143707</c:v>
                </c:pt>
                <c:pt idx="22">
                  <c:v>157452</c:v>
                </c:pt>
                <c:pt idx="23">
                  <c:v>192443</c:v>
                </c:pt>
                <c:pt idx="24">
                  <c:v>180034</c:v>
                </c:pt>
                <c:pt idx="25">
                  <c:v>178661</c:v>
                </c:pt>
                <c:pt idx="26">
                  <c:v>185569</c:v>
                </c:pt>
                <c:pt idx="27">
                  <c:v>159520</c:v>
                </c:pt>
                <c:pt idx="28">
                  <c:v>126853</c:v>
                </c:pt>
                <c:pt idx="29">
                  <c:v>119115</c:v>
                </c:pt>
                <c:pt idx="30">
                  <c:v>104656</c:v>
                </c:pt>
                <c:pt idx="31">
                  <c:v>112223</c:v>
                </c:pt>
                <c:pt idx="32">
                  <c:v>121131</c:v>
                </c:pt>
                <c:pt idx="33">
                  <c:v>145835</c:v>
                </c:pt>
                <c:pt idx="34">
                  <c:v>173083</c:v>
                </c:pt>
                <c:pt idx="35">
                  <c:v>185790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C9D8E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5A8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9D8E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3D62"/>
        </a:solidFill>
        <a:ln>
          <a:noFill/>
        </a:ln>
        <a:effectLst/>
      </c:spPr>
    </c:plotArea>
    <c:plotVisOnly val="1"/>
    <c:dispBlanksAs val="span"/>
  </c:chart>
  <c:spPr>
    <a:solidFill>
      <a:srgbClr val="0B3D6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287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West</c:v>
                  </c:pt>
                  <c:pt idx="3">
                    <c:v>East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1257247</c:v>
                </c:pt>
                <c:pt idx="1">
                  <c:v>1144917</c:v>
                </c:pt>
                <c:pt idx="2">
                  <c:v>1028310</c:v>
                </c:pt>
                <c:pt idx="3">
                  <c:v>933430</c:v>
                </c:pt>
                <c:pt idx="4">
                  <c:v>828262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D62"/>
              </a:solidFill>
              <a:effectLst/>
            </c:spPr>
          </c:dPt>
          <c:dPt>
            <c:idx val="1"/>
            <c:bubble3D val="0"/>
            <c:spPr>
              <a:solidFill>
                <a:srgbClr val="12877F"/>
              </a:solidFill>
              <a:effectLst/>
            </c:spPr>
          </c:dPt>
          <c:dPt>
            <c:idx val="2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bubble3D val="0"/>
            <c:spPr>
              <a:solidFill>
                <a:srgbClr val="8E6BB0"/>
              </a:solidFill>
              <a:effectLst/>
            </c:spPr>
          </c:dPt>
          <c:dPt>
            <c:idx val="4"/>
            <c:bubble3D val="0"/>
            <c:spPr>
              <a:solidFill>
                <a:srgbClr val="C0473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Home &amp; Kitchen</c:v>
                </c:pt>
                <c:pt idx="2">
                  <c:v>Apparel</c:v>
                </c:pt>
                <c:pt idx="3">
                  <c:v>Sports &amp; Fitness</c:v>
                </c:pt>
                <c:pt idx="4">
                  <c:v>Groceries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3143116</c:v>
                </c:pt>
                <c:pt idx="1">
                  <c:v>734394</c:v>
                </c:pt>
                <c:pt idx="2">
                  <c:v>631896</c:v>
                </c:pt>
                <c:pt idx="3">
                  <c:v>394480</c:v>
                </c:pt>
                <c:pt idx="4">
                  <c:v>288280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B6B7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3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Online</c:v>
                  </c:pt>
                  <c:pt idx="1">
                    <c:v>Retail Store</c:v>
                  </c:pt>
                  <c:pt idx="2">
                    <c:v>Distributor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2599729</c:v>
                </c:pt>
                <c:pt idx="1">
                  <c:v>1806861</c:v>
                </c:pt>
                <c:pt idx="2">
                  <c:v>785577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2877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4114800" cy="4114800"/>
          </a:xfrm>
          <a:prstGeom prst="ellipse">
            <a:avLst/>
          </a:prstGeom>
          <a:solidFill>
            <a:srgbClr val="F2A93B">
              <a:alpha val="1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DASHBOARD DESIGN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Financial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Dashboard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for business stakeholders — built on a Sales &amp; Financial dataset, with KPI tracking, regional and category breakdowns, and time-series analysis.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2606040" cy="777240"/>
          </a:xfrm>
          <a:prstGeom prst="rect">
            <a:avLst>
              <a:gd name="adj" fmla="val 9412"/>
            </a:avLst>
          </a:prstGeom>
          <a:solidFill>
            <a:srgbClr val="0F4A72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4791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CE"/>
                </a:solidFill>
              </a:rPr>
              <a:t>TOOLS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13232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 / Tableau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4709160"/>
            <a:ext cx="2606040" cy="777240"/>
          </a:xfrm>
          <a:prstGeom prst="rect">
            <a:avLst>
              <a:gd name="adj" fmla="val 9412"/>
            </a:avLst>
          </a:prstGeom>
          <a:solidFill>
            <a:srgbClr val="0F4A72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4791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CE"/>
                </a:solidFill>
              </a:rPr>
              <a:t>DELIVERABLE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547872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Interactive Dashboard + PPT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4709160"/>
            <a:ext cx="2606040" cy="777240"/>
          </a:xfrm>
          <a:prstGeom prst="rect">
            <a:avLst>
              <a:gd name="adj" fmla="val 9412"/>
            </a:avLst>
          </a:prstGeom>
          <a:solidFill>
            <a:srgbClr val="0F4A72"/>
          </a:solidFill>
          <a:ln/>
        </p:spPr>
      </p:sp>
      <p:sp>
        <p:nvSpPr>
          <p:cNvPr id="15" name="Text 12"/>
          <p:cNvSpPr/>
          <p:nvPr/>
        </p:nvSpPr>
        <p:spPr>
          <a:xfrm>
            <a:off x="6382512" y="4791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FB8CE"/>
                </a:solidFill>
              </a:rPr>
              <a:t>DATASET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82512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Sales_Financial (Kaggle-style)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Key Metrics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</a:rPr>
              <a:t>Design an interactive dashboard for business stakeholders, built around KPIs that reflect sales performance, profitability, and growth.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48256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8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$5.19M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6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70048" y="1417320"/>
            <a:ext cx="2048256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07208" y="15544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$1.22M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807208" y="2148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6"/>
                </a:solidFill>
              </a:rPr>
              <a:t>TOTAL PROFIT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82896" y="1417320"/>
            <a:ext cx="2048256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0056" y="15544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0056" y="2148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6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95744" y="1417320"/>
            <a:ext cx="2048256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32904" y="15544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60,041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32904" y="2148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6"/>
                </a:solidFill>
              </a:rPr>
              <a:t>UNITS SOLD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08592" y="1417320"/>
            <a:ext cx="2048256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45752" y="1554480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16,637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45752" y="214884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6B76"/>
                </a:solidFill>
              </a:rPr>
              <a:t>ORDERS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KPIs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</a:rPr>
              <a:t>Sales &amp; Profit anchor overall business health at a glance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</a:rPr>
              <a:t>Profit Margin % surfaces efficiency, not just volume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</a:rPr>
              <a:t>Units Sold and Orders separate demand from basket size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6"/>
                </a:solidFill>
              </a:rPr>
              <a:t>All KPIs recompute live as slicers/filters are applied</a:t>
            </a:r>
            <a:endParaRPr lang="en-US" sz="12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063240"/>
            <a:ext cx="914400" cy="914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943600" y="3063240"/>
            <a:ext cx="5303520" cy="3063240"/>
          </a:xfrm>
          <a:prstGeom prst="roundRect">
            <a:avLst>
              <a:gd name="adj" fmla="val 2388"/>
            </a:avLst>
          </a:prstGeom>
          <a:solidFill>
            <a:srgbClr val="0B3D6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7220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Monthly Sales Trend (2023–2025)</a:t>
            </a:r>
            <a:endParaRPr lang="en-US" sz="12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035040" y="3520440"/>
          <a:ext cx="51206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Approach — Mini Guide Applied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</a:rPr>
              <a:t>Each hint from the task brief maps to a concrete element in the delivered dashboard.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4592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17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Right KPIs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193852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Sales, Profit, Margin %, Units, Orders — chosen to cover volume, profitability, and efficiency together.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977640" y="137160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6459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1517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Slicers &amp; Filters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160520" y="193852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Chip-style filters for Year, Region, Category and Channel; every chart and KPI recalculates instantly on selection.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7498080" y="137160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0" y="153619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88" y="16459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15179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Time-Series Analysis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680960" y="193852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Monthly trend lines for Sales, Profit and Margin %, plus a quarter-over-quarter comparison across 2023–2025.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278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3375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209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Summary Cards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40080" y="3630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Five KPI cards at the top of every page total the current filter scope, with year-over-year deltas.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3977640" y="30632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60520" y="32278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333756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3209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Consistent Color Theme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160520" y="3630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Navy (#0B3D62) for structure, teal (#12877F) for secondary series, amber (#F2A93B) as the single accent — used identically across all pages.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7498080" y="3063240"/>
            <a:ext cx="333756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3E8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7680960" y="3227832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6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333756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320954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2C48"/>
                </a:solidFill>
              </a:rPr>
              <a:t>Navigation Menu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680960" y="3630168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dirty="0">
                <a:solidFill>
                  <a:srgbClr val="1C2B36"/>
                </a:solidFill>
              </a:rPr>
              <a:t>Left-hand nav with four pages — Overview, Sales Trends, Regional, Category &amp; Channel — so stakeholders can drill down without clutter.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2C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&amp; Category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6"/>
                </a:solidFill>
              </a:rPr>
              <a:t>Sales performance sliced by region, product category and sales channel — the same cuts available live in the dashboard's slicers.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2C48"/>
                </a:solidFill>
              </a:rPr>
              <a:t>Sales by Region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37490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3434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2C48"/>
                </a:solidFill>
              </a:rPr>
              <a:t>Sales Share by Category</a:t>
            </a:r>
            <a:endParaRPr lang="en-US" sz="13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251960" y="1600200"/>
          <a:ext cx="3566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818388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2C48"/>
                </a:solidFill>
              </a:rPr>
              <a:t>Sales by Channel</a:t>
            </a:r>
            <a:endParaRPr lang="en-US" sz="1350" dirty="0"/>
          </a:p>
        </p:txBody>
      </p:sp>
      <p:graphicFrame>
        <p:nvGraphicFramePr>
          <p:cNvPr id="9" name="Chart 2" descr=""/>
          <p:cNvGraphicFramePr/>
          <p:nvPr/>
        </p:nvGraphicFramePr>
        <p:xfrm>
          <a:off x="8092440" y="1600200"/>
          <a:ext cx="35661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365760" y="4160520"/>
            <a:ext cx="11338560" cy="18288"/>
          </a:xfrm>
          <a:prstGeom prst="rect">
            <a:avLst/>
          </a:prstGeom>
          <a:solidFill>
            <a:srgbClr val="E3E8EC"/>
          </a:solidFill>
          <a:ln/>
        </p:spPr>
      </p:sp>
      <p:sp>
        <p:nvSpPr>
          <p:cNvPr id="11" name="Text 6"/>
          <p:cNvSpPr/>
          <p:nvPr/>
        </p:nvSpPr>
        <p:spPr>
          <a:xfrm>
            <a:off x="45720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2C48"/>
                </a:solidFill>
              </a:rPr>
              <a:t>Reading the numbers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57200" y="470916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</a:rPr>
              <a:t>North leads all regions at $1.26M in sales, followed closely by South at $1.14M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</a:rPr>
              <a:t>Electronics dominates category mix at 60.5% of total sales — the clear priority for inventory and marketing focus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</a:rPr>
              <a:t>Online is the largest channel (50.1% of sales), ahead of Retail Store (34.8%) and Distributor (15.1%)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C2B36"/>
                </a:solidFill>
              </a:rPr>
              <a:t>Sales grew year over year: +6.0% in 2024, +2.5% in 2025 — growth is positive but decelerating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C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Dataset, Build Notes &amp; Outcome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F4A7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98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Dataset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Sales_Financial dataset in the spirit of Kaggle retail datasets: daily order-level transactions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3 years of data (Jan 2023 – Dec 2025), 16,637 orders, 5 regions, 5 categories, 3 channels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Fields: Order Date, Region, Category, Channel, Units Sold, Unit Price, Sales, Cost, Profit, Profit Margin %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Delivered as Sales_Financial_Dataset.csv — ready to load directly into Power BI or Tableau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858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</a:rPr>
              <a:t>Recreating in Power BI / Tableau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840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9D8E2"/>
                </a:solidFill>
              </a:rPr>
              <a:t>Import the CSV; build a Date table for time-intelligence measures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9D8E2"/>
                </a:solidFill>
              </a:rPr>
              <a:t>Add slicers on Year, Region, Category, Channel bound to all visuals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C9D8E2"/>
                </a:solidFill>
              </a:rPr>
              <a:t>Recreate KPI cards, trend lines, bar/donut charts using the same field mapping shown here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080760" y="10515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0F4A7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1298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Deliverables Checklist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09360" y="17830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Interactive dashboard prototype (HTML/Chart.js) — 4 pages, live filters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Sales_Financial_Dataset.csv — source data for Power BI / Tableau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C9D8E2"/>
                </a:solidFill>
              </a:rPr>
              <a:t>This PPT summary — objective, KPIs, design rationale, key findings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76656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</a:rPr>
              <a:t>Outcome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309360" y="33832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Learn how to create dashboards that inform business decisions — this build demonstrates KPI selection, interactivity, time-series analysis, and a consistent visual language ready to hand to stakeholders.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Financial Performance Dashboard — Task 3 Summary</dc:title>
  <dc:subject>PptxGenJS Presentation</dc:subject>
  <dc:creator>MSME Labs</dc:creator>
  <cp:lastModifiedBy>MSME Labs</cp:lastModifiedBy>
  <cp:revision>1</cp:revision>
  <dcterms:created xsi:type="dcterms:W3CDTF">2026-07-02T11:25:38Z</dcterms:created>
  <dcterms:modified xsi:type="dcterms:W3CDTF">2026-07-02T11:25:38Z</dcterms:modified>
</cp:coreProperties>
</file>